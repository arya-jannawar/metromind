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(20-30s): "Good morning — we are Team UrbanSync. Pune's metro is growing faster than the information riders need. MetroMind is our answer: an AI commute copilot for the Pune Metro that plans constraint-aware journeys, reasons over crowd reports and disruptions, and explains every recommendation in plain language. Everything you will see is a working prototype built on a labelled demo dataset — no real-time Maha-Metro feed is claimed."
Point at the screenshot: this is the actual build — Mission Control home with the live network map and the Demo Control bar at the bottom.
TIP: memorize the first two sentences; look at judges, not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(25s): Three commuter realities — first-time riders don't know which exit or line; daily commuters can't see platform crowding before they commit; and when something goes wrong, nothing explains what to do.
Then the right panel: a real commute is a bundle of constraints — arrive-by time, budget, crowd tolerance, accessibility. Change ONE and today's route suggestion goes stale.
HONESTY: we deliberately claim no ridership statistics — the problem framing is qualitative.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(35s): Walk the four steps left to right. The user states a goal, not an origin-destination query. The engine runs a constraint-aware Dijkstra on-device — routing never depends on an API. It returns three explained plans, and when conditions change, it re-reasons and explains the change.
KEY LINE: "Routing is computed on-device; AI upgrades the language, it never gates the demo."
Transition: "Let me show you the feature that makes this different."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FEATURE (40s): Read ONE why-line aloud, exactly as the app shows it. Point at the trade-off table in the screenshot: fastest vs calm vs just-in-time, same ₹30 fare, different departure strategy and crowd exposure.
The why-lines come from the deterministic explain layer; with the optional GLM key they get more natural language, badged accordingly ("offline AI mode" when templated).
JUDGE PREEMPT: "Why three cards if the physical path is unique?" — because on a two-line tree network the honest differentiation is departure timing + crowd exposure, and we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MODULES (35s): Mission Control (home) watches the whole network; M1 Copilot is the flagship — give it the most air time. M2 CrowdCast and M3 Rescue Grid are the civic layers; M4 Station Guide carries accessibility; M5 Community Connect carries lost &amp; found, buddies and builder matching.
THE POINT: these are not five separate apps — they share one data core, so a crowd report or an injected delay changes the same recommendation surface everywhere. That shared state is the architectural bet.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NARRATIVE (60-90s) — this is the moment:
1) Show the before-state: three plans, Fastest recommended (arr 09:06, 24 min buffer).
2) Say: "Now the aqua line runs fifteen minutes late." Click Demo Control → aqua +15′ delay. Cards recompute: +15′ chips, updated arrivals.
3) Press it AGAIN (+30′ cumulative) → the Deadline Broken panel appears: "earliest arrival is now 09:36 — the engine won't pretend otherwise." Dimmed best-effort cards, no fake route.
4) Relax the deadline → instant re-plan.
5) Optionally: crowd spike at a station → heatmap halo + Copilot badges update together.
HONESTY LINE (say it verbatim): "These are simulated demo conditions, injected by our own Demo Control bar — that label stays on screen."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CROWD + SAFETY (35s): CrowdCast — one tap, anonymous, no account; reports decay with a 15-minute half-life so stale data loses influence; confidence and freshness are shown. The heatmap drives route advice.
Rescue Grid — the point is ranking: severity + people affected + footfall + recency produce a queue with recommended actions, and the queue explains its own scores.
SAFETY LINE (verbatim): "This prototype does not dispatch real emergency services — in a real emergency, call 112 or notify metro staff."
JUDGE PREEMPT: "How do you prevent misleading safety info?" — recommended actions are rule-based templates per incident type; real deployment needs authority sign-off (that's on the roadmap).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(40s): Walk top to bottom. Interface: Next.js 15 + React 19 + TypeScript + Tailwind, 7 routes. State: six Zustand stores persisted to localStorage. Data: one demo dataset file — 29 stations, both lines, one interchange, labelled DEMO DATASET. Engine: pure TypeScript, zero framework imports — Dijkstra over (station,line) states, fare model, crowd penalty with half-life decay, triage scoring, explain layer. 28 vitest tests cover it.
AI LAYER: one server route, key stays server-side, 3-second timeout, strict JSON, instant template fallback. Kill the key and nothing breaks.
JUDGE PREEMPT: "What if the AI API fails?" — it degrades to deterministic explanations, badged "offline AI mode"; we demo that toggle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(25s): Read the first three rows only; let judges scan the rest. Emphasize the fairness note — we are not claiming every planner lacks these features; capable apps exist. The claim is the combination under one shared state core.
Anticipate: "Google Maps has crowd levels" — yes, for some modes and cities; MetroMind fuses crowd reports WITH constraints and explainability, and works on a network where gate-level data does not exist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(30s): Four value areas, each tied to a built capability — nothing speculative. Then the honest path: Phase 1 is where we stand today (demo on a verified station list, labelled simulated data). Phase 2 validates with real commuters. Phase 3 explores authorized data integrations — we do NOT claim Maha-Metro partnership. Phase 4 evaluates reliability, accessibility and privacy before any wider rollout.
JUDGE PREEMPT: "What would you need from Maha-Metro?" — an authorized feed (GTFS or AFC gate counts) and sign-off on any safety-adjacent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STATUS (30s): Left column is verifiable in the repo — tests, build cleanliness, browser walkthrough with zero console errors. Right column is the roadmap in delivery order.
Say it plainly: "We would rather show you one honest failure state than five fake wins — the Deadline Broken panel is deliberate."
If a judge asks for a live demo of anything: the whole app runs offline (npm run dev), no API key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(20s): "Pune is building after sunrise — we want MetroMind on it. Every commute deserves a smarter decision. Thank you — questions?"
Likely judge questions &amp; honest answers:
1. What is the actual innovation? — The combination: constraint-aware routing + community crowd reports + honest disruption states, unified by one shared state core with explanations on every recommendation.
2. How is route selection calculated? — Dijkstra over (station,line) states; edge cost = ride + dwell + crowd penalty; transfers add 4 min; three departure-timing strategies; details are unit-tested in lib/.
3. Where does crowd data come from? — A deterministic time-of-day model seeded with sample reports; user reports are anonymous, local-only, decay with a 15-min half-life. Labelled DEMO DATA.
4. Is the metro info real-time? — No. Stations follow the operational Aqua/Purple lines from public sources; fares/headways are labelled estimates. Real-time would need an authorized Maha-Metro feed.
5. What if the AI API fails? — Instant deterministic fallback ("offline AI mode"); routing never depends on AI. There is a deliberate "ai: forced offline" toggle in Demo Control.
6. How do you prevent misleading safety info? — Rule-based recommended actions, prominent 112 / metro-staff disclaimer, prototype-only labelling; authority dashboards require operator sign-off (roadmap).
7. What must change before real deployment? — Authorized feed, verified fares/facilities, commuter validation, accessibility audit, privacy &amp; abuse prevention, production deployment (currently local-runnable).
The repo runs with 'npm install &amp;&amp; npm run dev' — offer a live run if the judges want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68" y="1453896"/>
            <a:ext cx="5157216" cy="3246120"/>
          </a:xfrm>
          <a:prstGeom prst="rect">
            <a:avLst/>
          </a:prstGeom>
          <a:solidFill>
            <a:srgbClr val="121B29"/>
          </a:solidFill>
          <a:ln w="9525">
            <a:solidFill>
              <a:srgbClr val="2A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3" name="Image 0" descr="img/01-home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481328"/>
            <a:ext cx="5102352" cy="3191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29400" y="4764024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BUILD · MISSION CONTROL — LIVE NETWORK, CROWD HALOS, DEMO CONTROL BAR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6629400" y="5138928"/>
            <a:ext cx="5102352" cy="310896"/>
          </a:xfrm>
          <a:prstGeom prst="roundRect">
            <a:avLst>
              <a:gd name="adj" fmla="val 26471"/>
            </a:avLst>
          </a:prstGeom>
          <a:solidFill>
            <a:srgbClr val="0D1420"/>
          </a:solidFill>
          <a:ln w="9525">
            <a:solidFill>
              <a:srgbClr val="2A3A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29400" y="51389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DATA THROUGHOUT — NO REAL-TIME FEED CLAIMED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DAYLINE · URBAN MOBILITY TRACK · PUNE METRO BUILD SPRINT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11704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100" kern="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METRO</a:t>
            </a:r>
            <a:pPr indent="0" marL="0">
              <a:buNone/>
            </a:pPr>
            <a:r>
              <a:rPr lang="en-US" sz="5800" b="1" spc="100" kern="0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MIND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457200" y="230428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Pune Moves. MetroMind Thinks Ahead.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2999232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commute copilot that plans constraint-aware journeys, reasons over crowd reports and injected disruptions, explains every recommendation in plain language — and pairs it with safety triage, accessibility guidance and commuter community tools.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4526280"/>
            <a:ext cx="1901952" cy="0"/>
          </a:xfrm>
          <a:prstGeom prst="line">
            <a:avLst/>
          </a:prstGeom>
          <a:noFill/>
          <a:ln w="15875">
            <a:solidFill>
              <a:srgbClr val="2A3A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052" y="4485132"/>
            <a:ext cx="82296" cy="82296"/>
          </a:xfrm>
          <a:prstGeom prst="ellipse">
            <a:avLst/>
          </a:prstGeom>
          <a:solidFill>
            <a:srgbClr val="2A3A50"/>
          </a:solidFill>
          <a:ln/>
        </p:spPr>
      </p:sp>
      <p:sp>
        <p:nvSpPr>
          <p:cNvPr id="13" name="Shape 10"/>
          <p:cNvSpPr/>
          <p:nvPr/>
        </p:nvSpPr>
        <p:spPr>
          <a:xfrm>
            <a:off x="891540" y="4485132"/>
            <a:ext cx="82296" cy="82296"/>
          </a:xfrm>
          <a:prstGeom prst="ellipse">
            <a:avLst/>
          </a:prstGeom>
          <a:solidFill>
            <a:srgbClr val="2A3A50"/>
          </a:solidFill>
          <a:ln/>
        </p:spPr>
      </p:sp>
      <p:sp>
        <p:nvSpPr>
          <p:cNvPr id="14" name="Shape 11"/>
          <p:cNvSpPr/>
          <p:nvPr/>
        </p:nvSpPr>
        <p:spPr>
          <a:xfrm>
            <a:off x="1367028" y="4485132"/>
            <a:ext cx="82296" cy="82296"/>
          </a:xfrm>
          <a:prstGeom prst="ellipse">
            <a:avLst/>
          </a:prstGeom>
          <a:solidFill>
            <a:srgbClr val="2A3A50"/>
          </a:solidFill>
          <a:ln/>
        </p:spPr>
      </p:sp>
      <p:sp>
        <p:nvSpPr>
          <p:cNvPr id="15" name="Shape 12"/>
          <p:cNvSpPr/>
          <p:nvPr/>
        </p:nvSpPr>
        <p:spPr>
          <a:xfrm>
            <a:off x="1842516" y="4485132"/>
            <a:ext cx="82296" cy="82296"/>
          </a:xfrm>
          <a:prstGeom prst="ellipse">
            <a:avLst/>
          </a:prstGeom>
          <a:solidFill>
            <a:srgbClr val="2A3A50"/>
          </a:solidFill>
          <a:ln/>
        </p:spPr>
      </p:sp>
      <p:sp>
        <p:nvSpPr>
          <p:cNvPr id="16" name="Shape 13"/>
          <p:cNvSpPr/>
          <p:nvPr/>
        </p:nvSpPr>
        <p:spPr>
          <a:xfrm>
            <a:off x="2318004" y="4485132"/>
            <a:ext cx="82296" cy="82296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17" name="Text 14"/>
          <p:cNvSpPr/>
          <p:nvPr/>
        </p:nvSpPr>
        <p:spPr>
          <a:xfrm>
            <a:off x="2496312" y="4398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→ solution → live demo → impact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5138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URBANSYNC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543153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Arya Jannawar   ·   Siddhant Pardeshi   ·   Avani Jannawar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" y="5943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github.com/Arya-jannawar/MetroMind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Journey Is More Than a Route.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route suggestion answers “where”. A commuter also has to answer when, how much, how crowded — and what to do when one of those changes mid-journey.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E2E33"/>
          </a:solidFill>
          <a:ln w="9525">
            <a:solidFill>
              <a:srgbClr val="0E6E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0208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First-time riders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line, which exit, which gate? Station knowledge is scattered across signs, apps and word-of-mouth.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02666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E2E33"/>
          </a:solidFill>
          <a:ln w="9525">
            <a:solidFill>
              <a:srgbClr val="0E6E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26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9900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commuters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143000" y="33009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crowded will the next platform be? There is no way to see it before you commit to a departure.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99592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41A3D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9593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something changes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143000" y="42702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delay, a spike, a missed train — no single place explains what changed and what to do now.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51389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Qualitative, honest framing — no ridership statistics are claimed.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46520" y="2011680"/>
            <a:ext cx="5285232" cy="2834640"/>
          </a:xfrm>
          <a:prstGeom prst="roundRect">
            <a:avLst>
              <a:gd name="adj" fmla="val 2903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221284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RIDER IS REALLY BALANCING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26151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“Reach Deccan by 09:30.”</a:t>
            </a:r>
            <a:pPr indent="0" marL="0">
              <a:buNone/>
            </a:pPr>
            <a:r>
              <a:rPr lang="en-US" sz="1050" dirty="0">
                <a:solidFill>
                  <a:srgbClr val="5F6E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a deadline, not a preference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2999232"/>
            <a:ext cx="4736592" cy="0"/>
          </a:xfrm>
          <a:prstGeom prst="line">
            <a:avLst/>
          </a:prstGeom>
          <a:noFill/>
          <a:ln w="9525">
            <a:solidFill>
              <a:srgbClr val="1E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0723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“Stay under ₹50.”</a:t>
            </a:r>
            <a:pPr indent="0" marL="0">
              <a:buNone/>
            </a:pPr>
            <a:r>
              <a:rPr lang="en-US" sz="1050" dirty="0">
                <a:solidFill>
                  <a:srgbClr val="5F6E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a budget the plan must respect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3456432"/>
            <a:ext cx="4736592" cy="0"/>
          </a:xfrm>
          <a:prstGeom prst="line">
            <a:avLst/>
          </a:prstGeom>
          <a:noFill/>
          <a:ln w="9525">
            <a:solidFill>
              <a:srgbClr val="1E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35295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“Avoid packed trains.”</a:t>
            </a:r>
            <a:pPr indent="0" marL="0">
              <a:buNone/>
            </a:pPr>
            <a:r>
              <a:rPr lang="en-US" sz="1050" dirty="0">
                <a:solidFill>
                  <a:srgbClr val="5F6E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comfort the route app ignores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3913632"/>
            <a:ext cx="4736592" cy="0"/>
          </a:xfrm>
          <a:prstGeom prst="line">
            <a:avLst/>
          </a:prstGeom>
          <a:noFill/>
          <a:ln w="9525">
            <a:solidFill>
              <a:srgbClr val="1E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9867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“Step-free, if possible.”</a:t>
            </a:r>
            <a:pPr indent="0" marL="0">
              <a:buNone/>
            </a:pPr>
            <a:r>
              <a:rPr lang="en-US" sz="1050" dirty="0">
                <a:solidFill>
                  <a:srgbClr val="5F6E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accessibility needs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4370832"/>
            <a:ext cx="4736592" cy="0"/>
          </a:xfrm>
          <a:prstGeom prst="line">
            <a:avLst/>
          </a:prstGeom>
          <a:noFill/>
          <a:ln w="9525">
            <a:solidFill>
              <a:srgbClr val="1E2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444398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“Aqua line delayed 15′?”</a:t>
            </a:r>
            <a:pPr indent="0" marL="0">
              <a:buNone/>
            </a:pPr>
            <a:r>
              <a:rPr lang="en-US" sz="1050" dirty="0">
                <a:solidFill>
                  <a:srgbClr val="5F6E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the plan breaks — then what?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20840" y="5440680"/>
            <a:ext cx="3401568" cy="0"/>
          </a:xfrm>
          <a:prstGeom prst="line">
            <a:avLst/>
          </a:prstGeom>
          <a:noFill/>
          <a:ln w="15875">
            <a:solidFill>
              <a:srgbClr val="2A3A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9692" y="5399532"/>
            <a:ext cx="82296" cy="82296"/>
          </a:xfrm>
          <a:prstGeom prst="ellipse">
            <a:avLst/>
          </a:prstGeom>
          <a:solidFill>
            <a:srgbClr val="2A3A50"/>
          </a:solidFill>
          <a:ln/>
        </p:spPr>
      </p:sp>
      <p:sp>
        <p:nvSpPr>
          <p:cNvPr id="31" name="Shape 29"/>
          <p:cNvSpPr/>
          <p:nvPr/>
        </p:nvSpPr>
        <p:spPr>
          <a:xfrm>
            <a:off x="7246620" y="5399532"/>
            <a:ext cx="82296" cy="82296"/>
          </a:xfrm>
          <a:prstGeom prst="ellipse">
            <a:avLst/>
          </a:prstGeom>
          <a:solidFill>
            <a:srgbClr val="2A3A50"/>
          </a:solidFill>
          <a:ln/>
        </p:spPr>
      </p:sp>
      <p:sp>
        <p:nvSpPr>
          <p:cNvPr id="32" name="Shape 30"/>
          <p:cNvSpPr/>
          <p:nvPr/>
        </p:nvSpPr>
        <p:spPr>
          <a:xfrm>
            <a:off x="7813548" y="5399532"/>
            <a:ext cx="82296" cy="82296"/>
          </a:xfrm>
          <a:prstGeom prst="ellipse">
            <a:avLst/>
          </a:prstGeom>
          <a:solidFill>
            <a:srgbClr val="2A3A50"/>
          </a:solidFill>
          <a:ln/>
        </p:spPr>
      </p:sp>
      <p:sp>
        <p:nvSpPr>
          <p:cNvPr id="33" name="Shape 31"/>
          <p:cNvSpPr/>
          <p:nvPr/>
        </p:nvSpPr>
        <p:spPr>
          <a:xfrm>
            <a:off x="8380476" y="5399532"/>
            <a:ext cx="82296" cy="82296"/>
          </a:xfrm>
          <a:prstGeom prst="ellipse">
            <a:avLst/>
          </a:prstGeom>
          <a:solidFill>
            <a:srgbClr val="2A3A50"/>
          </a:solidFill>
          <a:ln/>
        </p:spPr>
      </p:sp>
      <p:sp>
        <p:nvSpPr>
          <p:cNvPr id="34" name="Shape 32"/>
          <p:cNvSpPr/>
          <p:nvPr/>
        </p:nvSpPr>
        <p:spPr>
          <a:xfrm>
            <a:off x="8947404" y="5399532"/>
            <a:ext cx="82296" cy="82296"/>
          </a:xfrm>
          <a:prstGeom prst="ellipse">
            <a:avLst/>
          </a:prstGeom>
          <a:solidFill>
            <a:srgbClr val="F0564A"/>
          </a:solidFill>
          <a:ln/>
        </p:spPr>
      </p:sp>
      <p:sp>
        <p:nvSpPr>
          <p:cNvPr id="35" name="Shape 33"/>
          <p:cNvSpPr/>
          <p:nvPr/>
        </p:nvSpPr>
        <p:spPr>
          <a:xfrm>
            <a:off x="9514332" y="5399532"/>
            <a:ext cx="82296" cy="82296"/>
          </a:xfrm>
          <a:prstGeom prst="ellipse">
            <a:avLst/>
          </a:prstGeom>
          <a:solidFill>
            <a:srgbClr val="F0564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81260" y="5399532"/>
            <a:ext cx="82296" cy="82296"/>
          </a:xfrm>
          <a:prstGeom prst="ellipse">
            <a:avLst/>
          </a:prstGeom>
          <a:solidFill>
            <a:srgbClr val="F0564A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55869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condition changes</a:t>
            </a:r>
            <a:pPr indent="0" marL="0">
              <a:buNone/>
            </a:pPr>
            <a:r>
              <a:rPr lang="en-US" sz="1000" spc="1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1000" spc="100" kern="0" dirty="0">
                <a:solidFill>
                  <a:srgbClr val="F0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plan breaks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552590"/>
            <a:ext cx="3419856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" y="6501384"/>
            <a:ext cx="102413" cy="102413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40" name="Shape 38"/>
          <p:cNvSpPr/>
          <p:nvPr/>
        </p:nvSpPr>
        <p:spPr>
          <a:xfrm>
            <a:off x="76809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7899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2" name="Shape 40"/>
          <p:cNvSpPr/>
          <p:nvPr/>
        </p:nvSpPr>
        <p:spPr>
          <a:xfrm>
            <a:off x="138988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3" name="Shape 41"/>
          <p:cNvSpPr/>
          <p:nvPr/>
        </p:nvSpPr>
        <p:spPr>
          <a:xfrm>
            <a:off x="170078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4" name="Shape 42"/>
          <p:cNvSpPr/>
          <p:nvPr/>
        </p:nvSpPr>
        <p:spPr>
          <a:xfrm>
            <a:off x="201168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5" name="Shape 43"/>
          <p:cNvSpPr/>
          <p:nvPr/>
        </p:nvSpPr>
        <p:spPr>
          <a:xfrm>
            <a:off x="232257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6" name="Shape 44"/>
          <p:cNvSpPr/>
          <p:nvPr/>
        </p:nvSpPr>
        <p:spPr>
          <a:xfrm>
            <a:off x="263347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7" name="Shape 45"/>
          <p:cNvSpPr/>
          <p:nvPr/>
        </p:nvSpPr>
        <p:spPr>
          <a:xfrm>
            <a:off x="294436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8" name="Shape 46"/>
          <p:cNvSpPr/>
          <p:nvPr/>
        </p:nvSpPr>
        <p:spPr>
          <a:xfrm>
            <a:off x="325526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9" name="Shape 47"/>
          <p:cNvSpPr/>
          <p:nvPr/>
        </p:nvSpPr>
        <p:spPr>
          <a:xfrm>
            <a:off x="356616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50" name="Shape 48"/>
          <p:cNvSpPr/>
          <p:nvPr/>
        </p:nvSpPr>
        <p:spPr>
          <a:xfrm>
            <a:off x="387705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51" name="Text 49"/>
          <p:cNvSpPr/>
          <p:nvPr/>
        </p:nvSpPr>
        <p:spPr>
          <a:xfrm>
            <a:off x="8138160" y="6419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12  ·  THE PROBLEM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THE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Copilot. </a:t>
            </a:r>
            <a:pPr indent="0" marL="0">
              <a:buNone/>
            </a:pPr>
            <a:r>
              <a:rPr lang="en-US" sz="300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Travel Decisions.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0E2E33"/>
          </a:solidFill>
          <a:ln w="12700">
            <a:solidFill>
              <a:srgbClr val="0E6E7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3736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9568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2860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“Reach Deccan by 9:30. Budget ₹50. Avoid crowds.”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31455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stated as a goal, not two station names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08960" y="2510028"/>
            <a:ext cx="210312" cy="0"/>
          </a:xfrm>
          <a:prstGeom prst="line">
            <a:avLst/>
          </a:prstGeom>
          <a:noFill/>
          <a:ln w="19050">
            <a:solidFill>
              <a:srgbClr val="5F6E8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55848" y="1572768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121B29"/>
          </a:solidFill>
          <a:ln w="12700">
            <a:solidFill>
              <a:srgbClr val="2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57016" y="173736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57016" y="19568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ENGINE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7016" y="22860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Constraint-aware Dijkstra over the demo network graph — ride time, fare, transfers, crowd penalty.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57016" y="31455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on-device, no API key needed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07608" y="2510028"/>
            <a:ext cx="210312" cy="0"/>
          </a:xfrm>
          <a:prstGeom prst="line">
            <a:avLst/>
          </a:prstGeom>
          <a:noFill/>
          <a:ln w="19050">
            <a:solidFill>
              <a:srgbClr val="5F6E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54496" y="1572768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121B29"/>
          </a:solidFill>
          <a:ln w="12700">
            <a:solidFill>
              <a:srgbClr val="2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55664" y="173736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55664" y="19568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EXPLAINED PLANS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5664" y="22860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timing strategies, each with fare, crowd forecast and a one-sentence why.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55664" y="31455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trade-offs visible, not hidden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906256" y="2510028"/>
            <a:ext cx="210312" cy="0"/>
          </a:xfrm>
          <a:prstGeom prst="line">
            <a:avLst/>
          </a:prstGeom>
          <a:noFill/>
          <a:ln w="19050">
            <a:solidFill>
              <a:srgbClr val="5F6E8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53144" y="1572768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241A3D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54312" y="173736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54312" y="19568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REPLY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54312" y="22860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 a delay or a crowd spike — every card recomputes and explains the change.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54312" y="31455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demo moment, live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72400" y="3886200"/>
            <a:ext cx="3986784" cy="2514600"/>
          </a:xfrm>
          <a:prstGeom prst="rect">
            <a:avLst/>
          </a:prstGeom>
          <a:solidFill>
            <a:srgbClr val="121B29"/>
          </a:solidFill>
          <a:ln w="9525">
            <a:solidFill>
              <a:srgbClr val="2A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28" name="Image 0" descr="img/02-copilot-killer-qu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2" y="3913632"/>
            <a:ext cx="3931920" cy="245973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799832" y="3657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BUILD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57200" y="4178808"/>
            <a:ext cx="82296" cy="82296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" y="40690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 chips, not forms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arrive-by · budget · avoid crowds · step-free — one tap each.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57200" y="4745736"/>
            <a:ext cx="82296" cy="82296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33" name="Text 30"/>
          <p:cNvSpPr/>
          <p:nvPr/>
        </p:nvSpPr>
        <p:spPr>
          <a:xfrm>
            <a:off x="685800" y="4636008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Explained, every time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card carries a “why this route” line in plain language.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57200" y="5312664"/>
            <a:ext cx="82296" cy="82296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35" name="Text 32"/>
          <p:cNvSpPr/>
          <p:nvPr/>
        </p:nvSpPr>
        <p:spPr>
          <a:xfrm>
            <a:off x="685800" y="520293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state core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crowd report or a delay anywhere re-reasons the whole app.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457200" y="5897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ON-DEVICE ROUTING · EXPLAINABLE BY DEFAULT · AI OPTIONAL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6552590"/>
            <a:ext cx="3419856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9" name="Shape 36"/>
          <p:cNvSpPr/>
          <p:nvPr/>
        </p:nvSpPr>
        <p:spPr>
          <a:xfrm>
            <a:off x="740664" y="6501384"/>
            <a:ext cx="102413" cy="102413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40" name="Shape 37"/>
          <p:cNvSpPr/>
          <p:nvPr/>
        </p:nvSpPr>
        <p:spPr>
          <a:xfrm>
            <a:off x="107899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1" name="Shape 38"/>
          <p:cNvSpPr/>
          <p:nvPr/>
        </p:nvSpPr>
        <p:spPr>
          <a:xfrm>
            <a:off x="138988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2" name="Shape 39"/>
          <p:cNvSpPr/>
          <p:nvPr/>
        </p:nvSpPr>
        <p:spPr>
          <a:xfrm>
            <a:off x="170078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3" name="Shape 40"/>
          <p:cNvSpPr/>
          <p:nvPr/>
        </p:nvSpPr>
        <p:spPr>
          <a:xfrm>
            <a:off x="201168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4" name="Shape 41"/>
          <p:cNvSpPr/>
          <p:nvPr/>
        </p:nvSpPr>
        <p:spPr>
          <a:xfrm>
            <a:off x="232257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5" name="Shape 42"/>
          <p:cNvSpPr/>
          <p:nvPr/>
        </p:nvSpPr>
        <p:spPr>
          <a:xfrm>
            <a:off x="263347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6" name="Shape 43"/>
          <p:cNvSpPr/>
          <p:nvPr/>
        </p:nvSpPr>
        <p:spPr>
          <a:xfrm>
            <a:off x="294436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7" name="Shape 44"/>
          <p:cNvSpPr/>
          <p:nvPr/>
        </p:nvSpPr>
        <p:spPr>
          <a:xfrm>
            <a:off x="325526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8" name="Shape 45"/>
          <p:cNvSpPr/>
          <p:nvPr/>
        </p:nvSpPr>
        <p:spPr>
          <a:xfrm>
            <a:off x="356616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9" name="Shape 46"/>
          <p:cNvSpPr/>
          <p:nvPr/>
        </p:nvSpPr>
        <p:spPr>
          <a:xfrm>
            <a:off x="387705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50" name="Text 47"/>
          <p:cNvSpPr/>
          <p:nvPr/>
        </p:nvSpPr>
        <p:spPr>
          <a:xfrm>
            <a:off x="8138160" y="6419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  ·  THE SOLUTION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HERO FEATURE · EXPLAINABLE COMMUTE COPILOT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Just the Best Route. </a:t>
            </a:r>
            <a:pPr indent="0" marL="0">
              <a:buNone/>
            </a:pPr>
            <a:r>
              <a:rPr lang="en-US" sz="300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Reason Behind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167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KILLER QUERY · RAMWADI → DECCAN GYMKHANA · ARRIVE 09:30 · BUDGET ₹50 — DEMO ESTIMATES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5989320" cy="1243584"/>
          </a:xfrm>
          <a:prstGeom prst="roundRect">
            <a:avLst>
              <a:gd name="adj" fmla="val 6618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2029968"/>
            <a:ext cx="100584" cy="100584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01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212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 08:30 → arr 09:06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468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36′ · ₹30 · 0 changes · 10 stops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60520" y="188366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“Leaves now — 24 min of buffer before the deadline. Busiest stretch: Ramwadi → Deccan Gymkhana (packed).”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145536"/>
            <a:ext cx="5989320" cy="1243584"/>
          </a:xfrm>
          <a:prstGeom prst="roundRect">
            <a:avLst>
              <a:gd name="adj" fmla="val 6618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3419856"/>
            <a:ext cx="100584" cy="100584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291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CALMER RIDE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6112" y="3602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 08:40 → arr 09:11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3858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36′ · ₹30 · waits 10 min, calmer ride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0520" y="327355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“Chosen for lighter platforms: peak crowd is ‘Packed’ versus the crush later — at the cost of departing later.”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535424"/>
            <a:ext cx="5989320" cy="1243584"/>
          </a:xfrm>
          <a:prstGeom prst="roundRect">
            <a:avLst>
              <a:gd name="adj" fmla="val 6618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" y="4809744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81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JUST-IN-TIME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96112" y="4992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 08:54 → arr 09:30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52486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36′ · ₹30 · zero buffer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60520" y="46634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“Arrives exactly at the deadline — the latest safe departure the schedule allows.”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59436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F6E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Strategies differ in WHEN you travel — honest for a two-line network where the physical path is unique. Off-peak, one honest card is shown instead of padding.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30568" y="1728216"/>
            <a:ext cx="4928616" cy="3099816"/>
          </a:xfrm>
          <a:prstGeom prst="rect">
            <a:avLst/>
          </a:prstGeom>
          <a:solidFill>
            <a:srgbClr val="121B29"/>
          </a:solidFill>
          <a:ln w="9525">
            <a:solidFill>
              <a:srgbClr val="2A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25" name="Image 0" descr="img/02-copilot-killer-qu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55648"/>
            <a:ext cx="4873752" cy="3044952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858000" y="5029200"/>
            <a:ext cx="4873752" cy="1207008"/>
          </a:xfrm>
          <a:prstGeom prst="roundRect">
            <a:avLst>
              <a:gd name="adj" fmla="val 6818"/>
            </a:avLst>
          </a:prstGeom>
          <a:solidFill>
            <a:srgbClr val="0E2E33"/>
          </a:solidFill>
          <a:ln w="12700">
            <a:solidFill>
              <a:srgbClr val="0E6E7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86600" y="51937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DIFFERENTIATOR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086600" y="544982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MetroMind explains the trade-off instead of returning a route without context — every recommendation ships with its reason.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57200" y="6552590"/>
            <a:ext cx="3419856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1" name="Shape 28"/>
          <p:cNvSpPr/>
          <p:nvPr/>
        </p:nvSpPr>
        <p:spPr>
          <a:xfrm>
            <a:off x="76809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2" name="Shape 29"/>
          <p:cNvSpPr/>
          <p:nvPr/>
        </p:nvSpPr>
        <p:spPr>
          <a:xfrm>
            <a:off x="1051560" y="6501384"/>
            <a:ext cx="102413" cy="102413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33" name="Shape 30"/>
          <p:cNvSpPr/>
          <p:nvPr/>
        </p:nvSpPr>
        <p:spPr>
          <a:xfrm>
            <a:off x="138988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4" name="Shape 31"/>
          <p:cNvSpPr/>
          <p:nvPr/>
        </p:nvSpPr>
        <p:spPr>
          <a:xfrm>
            <a:off x="170078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5" name="Shape 32"/>
          <p:cNvSpPr/>
          <p:nvPr/>
        </p:nvSpPr>
        <p:spPr>
          <a:xfrm>
            <a:off x="201168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6" name="Shape 33"/>
          <p:cNvSpPr/>
          <p:nvPr/>
        </p:nvSpPr>
        <p:spPr>
          <a:xfrm>
            <a:off x="232257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7" name="Shape 34"/>
          <p:cNvSpPr/>
          <p:nvPr/>
        </p:nvSpPr>
        <p:spPr>
          <a:xfrm>
            <a:off x="263347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8" name="Shape 35"/>
          <p:cNvSpPr/>
          <p:nvPr/>
        </p:nvSpPr>
        <p:spPr>
          <a:xfrm>
            <a:off x="294436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9" name="Shape 36"/>
          <p:cNvSpPr/>
          <p:nvPr/>
        </p:nvSpPr>
        <p:spPr>
          <a:xfrm>
            <a:off x="325526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0" name="Shape 37"/>
          <p:cNvSpPr/>
          <p:nvPr/>
        </p:nvSpPr>
        <p:spPr>
          <a:xfrm>
            <a:off x="356616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1" name="Shape 38"/>
          <p:cNvSpPr/>
          <p:nvPr/>
        </p:nvSpPr>
        <p:spPr>
          <a:xfrm>
            <a:off x="387705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2" name="Text 39"/>
          <p:cNvSpPr/>
          <p:nvPr/>
        </p:nvSpPr>
        <p:spPr>
          <a:xfrm>
            <a:off x="8138160" y="6419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  ·  HERO FEATURE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PRODUCT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Capabilities. </a:t>
            </a:r>
            <a:pPr indent="0" marL="0">
              <a:buNone/>
            </a:pPr>
            <a:r>
              <a:rPr lang="en-US" sz="300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Connected Platform.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3703320" cy="4041648"/>
          </a:xfrm>
          <a:prstGeom prst="roundRect">
            <a:avLst>
              <a:gd name="adj" fmla="val 2222"/>
            </a:avLst>
          </a:prstGeom>
          <a:solidFill>
            <a:srgbClr val="0D1420"/>
          </a:solidFill>
          <a:ln w="15875">
            <a:solidFill>
              <a:srgbClr val="0E6E7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55648"/>
            <a:ext cx="502920" cy="274320"/>
          </a:xfrm>
          <a:prstGeom prst="roundRect">
            <a:avLst>
              <a:gd name="adj" fmla="val 30000"/>
            </a:avLst>
          </a:prstGeom>
          <a:solidFill>
            <a:srgbClr val="0E2E33"/>
          </a:solidFill>
          <a:ln w="9525">
            <a:solidFill>
              <a:srgbClr val="0E6E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55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COMMUTE COPILOT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217627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flagship. Constraint-aware route planning, comparison, plain-language explanations and live rerouting.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0358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arrive-by · budget · avoid crowds · step-free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33467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timing strategies with why-lines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3657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 compare table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39684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disruption re-planning (Demo Control)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764024"/>
            <a:ext cx="2377440" cy="0"/>
          </a:xfrm>
          <a:prstGeom prst="line">
            <a:avLst/>
          </a:prstGeom>
          <a:noFill/>
          <a:ln w="19050">
            <a:solidFill>
              <a:srgbClr val="0E6E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" y="4727448"/>
            <a:ext cx="73152" cy="73152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9304" y="4727448"/>
            <a:ext cx="73152" cy="73152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883664" y="4727448"/>
            <a:ext cx="73152" cy="73152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17" name="Shape 15"/>
          <p:cNvSpPr/>
          <p:nvPr/>
        </p:nvSpPr>
        <p:spPr>
          <a:xfrm>
            <a:off x="2478024" y="4727448"/>
            <a:ext cx="73152" cy="73152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18" name="Shape 16"/>
          <p:cNvSpPr/>
          <p:nvPr/>
        </p:nvSpPr>
        <p:spPr>
          <a:xfrm>
            <a:off x="3072384" y="4727448"/>
            <a:ext cx="73152" cy="73152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8920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RAMWADI ─ DISTRICT COURT ─ DECCAN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34840" y="1517904"/>
            <a:ext cx="3611880" cy="1929384"/>
          </a:xfrm>
          <a:prstGeom prst="roundRect">
            <a:avLst>
              <a:gd name="adj" fmla="val 4265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54296" y="16824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54296" y="192024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CROWDCAST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54296" y="2231136"/>
            <a:ext cx="31729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 × 15-min crowd heatmap. One-tap anonymous reports — Empty / Moderate / Packed — with 15-minute half-life decay, confidence and freshness.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02752" y="1517904"/>
            <a:ext cx="3611880" cy="1929384"/>
          </a:xfrm>
          <a:prstGeom prst="roundRect">
            <a:avLst>
              <a:gd name="adj" fmla="val 4265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22208" y="16824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22208" y="192024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RESCUE GRID + SAFESTREETS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22208" y="2231136"/>
            <a:ext cx="31729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ranked by triage score — severity, people affected, footfall, recency — with recommended actions. Street-hazard risk map for the walk in.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3630168"/>
            <a:ext cx="3611880" cy="1929384"/>
          </a:xfrm>
          <a:prstGeom prst="roundRect">
            <a:avLst>
              <a:gd name="adj" fmla="val 4265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54296" y="37947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54296" y="40325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 GUIDE / ACCESSWAY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54296" y="4343400"/>
            <a:ext cx="31729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5-step first-rider guide in EN / हिंदी / मराठी. Per-station pages: exits, parking, accessibility, first/last mile, departures, crowding now.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02752" y="3630168"/>
            <a:ext cx="3611880" cy="1929384"/>
          </a:xfrm>
          <a:prstGeom prst="roundRect">
            <a:avLst>
              <a:gd name="adj" fmla="val 4265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522208" y="37947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22208" y="40325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CONNECT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22208" y="4343400"/>
            <a:ext cx="31729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 &amp; found board with search, travel-buddy matching with a why-matched reason, ConnectIQ-style builder matching, station events.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5742432"/>
            <a:ext cx="12188952" cy="566928"/>
          </a:xfrm>
          <a:prstGeom prst="rect">
            <a:avLst/>
          </a:prstGeom>
          <a:solidFill>
            <a:srgbClr val="121B29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5742432"/>
            <a:ext cx="12188952" cy="0"/>
          </a:xfrm>
          <a:prstGeom prst="line">
            <a:avLst/>
          </a:prstGeom>
          <a:noFill/>
          <a:ln w="9525">
            <a:solidFill>
              <a:srgbClr val="2A3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7424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METRO-DATA + DISRUPTION-STATE CORE   </a:t>
            </a:r>
            <a:pPr indent="0" marL="0">
              <a:buNone/>
            </a:pPr>
            <a:r>
              <a:rPr lang="en-US" sz="10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stations · Aqua + Purple lines · District Court interchange — crowd reports, disruptions and incidents in one engine (lib/), persisted locally. A report anywhere re-reasons everywhere.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6552590"/>
            <a:ext cx="3419856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1" name="Shape 39"/>
          <p:cNvSpPr/>
          <p:nvPr/>
        </p:nvSpPr>
        <p:spPr>
          <a:xfrm>
            <a:off x="76809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7899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3" name="Shape 41"/>
          <p:cNvSpPr/>
          <p:nvPr/>
        </p:nvSpPr>
        <p:spPr>
          <a:xfrm>
            <a:off x="1362456" y="6501384"/>
            <a:ext cx="102413" cy="102413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44" name="Shape 42"/>
          <p:cNvSpPr/>
          <p:nvPr/>
        </p:nvSpPr>
        <p:spPr>
          <a:xfrm>
            <a:off x="170078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5" name="Shape 43"/>
          <p:cNvSpPr/>
          <p:nvPr/>
        </p:nvSpPr>
        <p:spPr>
          <a:xfrm>
            <a:off x="201168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6" name="Shape 44"/>
          <p:cNvSpPr/>
          <p:nvPr/>
        </p:nvSpPr>
        <p:spPr>
          <a:xfrm>
            <a:off x="232257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7" name="Shape 45"/>
          <p:cNvSpPr/>
          <p:nvPr/>
        </p:nvSpPr>
        <p:spPr>
          <a:xfrm>
            <a:off x="263347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8" name="Shape 46"/>
          <p:cNvSpPr/>
          <p:nvPr/>
        </p:nvSpPr>
        <p:spPr>
          <a:xfrm>
            <a:off x="294436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9" name="Shape 47"/>
          <p:cNvSpPr/>
          <p:nvPr/>
        </p:nvSpPr>
        <p:spPr>
          <a:xfrm>
            <a:off x="325526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50" name="Shape 48"/>
          <p:cNvSpPr/>
          <p:nvPr/>
        </p:nvSpPr>
        <p:spPr>
          <a:xfrm>
            <a:off x="356616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51" name="Shape 49"/>
          <p:cNvSpPr/>
          <p:nvPr/>
        </p:nvSpPr>
        <p:spPr>
          <a:xfrm>
            <a:off x="387705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52" name="Text 50"/>
          <p:cNvSpPr/>
          <p:nvPr/>
        </p:nvSpPr>
        <p:spPr>
          <a:xfrm>
            <a:off x="8138160" y="6419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  ·  FIVE MODULES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THE LIVE DEMO MOMENT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Metro Changes, </a:t>
            </a:r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Recommendation Changes.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224528" cy="274320"/>
          </a:xfrm>
          <a:prstGeom prst="roundRect">
            <a:avLst>
              <a:gd name="adj" fmla="val 30000"/>
            </a:avLst>
          </a:prstGeom>
          <a:solidFill>
            <a:srgbClr val="0E2E33"/>
          </a:solidFill>
          <a:ln w="9525">
            <a:solidFill>
              <a:srgbClr val="0E6E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— three explained plans, Fastest recommended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29768" y="1965960"/>
            <a:ext cx="4279392" cy="2697480"/>
          </a:xfrm>
          <a:prstGeom prst="rect">
            <a:avLst/>
          </a:prstGeom>
          <a:solidFill>
            <a:srgbClr val="121B29"/>
          </a:solidFill>
          <a:ln w="9525">
            <a:solidFill>
              <a:srgbClr val="2A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img/02-copilot-killer-qu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3392"/>
            <a:ext cx="4224528" cy="2642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07224" y="1645920"/>
            <a:ext cx="4224528" cy="274320"/>
          </a:xfrm>
          <a:prstGeom prst="roundRect">
            <a:avLst>
              <a:gd name="adj" fmla="val 30000"/>
            </a:avLst>
          </a:prstGeom>
          <a:solidFill>
            <a:srgbClr val="33240D"/>
          </a:solidFill>
          <a:ln w="9525">
            <a:solidFill>
              <a:srgbClr val="6B4A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07224" y="1645920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— “Deadline broken”: earliest arrival 09:36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479792" y="1965960"/>
            <a:ext cx="4279392" cy="2697480"/>
          </a:xfrm>
          <a:prstGeom prst="rect">
            <a:avLst/>
          </a:prstGeom>
          <a:solidFill>
            <a:srgbClr val="121B29"/>
          </a:solidFill>
          <a:ln w="9525">
            <a:solidFill>
              <a:srgbClr val="2A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1" descr="img/03-copilot-deadline-brok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4" y="1993392"/>
            <a:ext cx="4224528" cy="26426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36592" y="3314700"/>
            <a:ext cx="256032" cy="0"/>
          </a:xfrm>
          <a:prstGeom prst="line">
            <a:avLst/>
          </a:prstGeom>
          <a:noFill/>
          <a:ln w="15875">
            <a:solidFill>
              <a:srgbClr val="5F6E84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956048" y="2313432"/>
            <a:ext cx="2276856" cy="2011680"/>
          </a:xfrm>
          <a:prstGeom prst="roundRect">
            <a:avLst>
              <a:gd name="adj" fmla="val 4091"/>
            </a:avLst>
          </a:prstGeom>
          <a:solidFill>
            <a:srgbClr val="33240D"/>
          </a:solidFill>
          <a:ln w="12700">
            <a:solidFill>
              <a:srgbClr val="6B4A1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138928" y="2496312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CONTROL BAR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138928" y="277977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aqua +15′ delay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138928" y="307238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press → +30′ total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94476" y="3419856"/>
            <a:ext cx="0" cy="45720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5138928" y="3803904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 recompute live, in front of the judges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196328" y="3314700"/>
            <a:ext cx="256032" cy="0"/>
          </a:xfrm>
          <a:prstGeom prst="line">
            <a:avLst/>
          </a:prstGeom>
          <a:noFill/>
          <a:ln w="15875">
            <a:solidFill>
              <a:srgbClr val="5F6E84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57200" y="4956048"/>
            <a:ext cx="3639312" cy="896112"/>
          </a:xfrm>
          <a:prstGeom prst="roundRect">
            <a:avLst>
              <a:gd name="adj" fmla="val 9184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40080" y="506577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Recomputed live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40080" y="5321808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+30′ chips, updated arrivals, re-ranked plans — no cutaway, no refresh.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279392" y="4956048"/>
            <a:ext cx="3639312" cy="896112"/>
          </a:xfrm>
          <a:prstGeom prst="roundRect">
            <a:avLst>
              <a:gd name="adj" fmla="val 9184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462272" y="506577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failure state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462272" y="5321808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“Earliest arrival is now 09:36 — the engine won't pretend otherwise.”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101584" y="4956048"/>
            <a:ext cx="3639312" cy="896112"/>
          </a:xfrm>
          <a:prstGeom prst="roundRect">
            <a:avLst>
              <a:gd name="adj" fmla="val 9184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8284464" y="506577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Relax the deadline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8284464" y="5321808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09:30 later → instant re-plan. The demo is interactive, not a recording.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SIMULATED DEMO CONDITIONS — injected by the built-in Demo Control bar. No real-time Maha-Metro feed is claimed.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57200" y="6552590"/>
            <a:ext cx="3419856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5720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2" name="Shape 28"/>
          <p:cNvSpPr/>
          <p:nvPr/>
        </p:nvSpPr>
        <p:spPr>
          <a:xfrm>
            <a:off x="76809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3" name="Shape 29"/>
          <p:cNvSpPr/>
          <p:nvPr/>
        </p:nvSpPr>
        <p:spPr>
          <a:xfrm>
            <a:off x="107899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4" name="Shape 30"/>
          <p:cNvSpPr/>
          <p:nvPr/>
        </p:nvSpPr>
        <p:spPr>
          <a:xfrm>
            <a:off x="138988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5" name="Shape 31"/>
          <p:cNvSpPr/>
          <p:nvPr/>
        </p:nvSpPr>
        <p:spPr>
          <a:xfrm>
            <a:off x="1673352" y="6501384"/>
            <a:ext cx="102413" cy="102413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36" name="Shape 32"/>
          <p:cNvSpPr/>
          <p:nvPr/>
        </p:nvSpPr>
        <p:spPr>
          <a:xfrm>
            <a:off x="201168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7" name="Shape 33"/>
          <p:cNvSpPr/>
          <p:nvPr/>
        </p:nvSpPr>
        <p:spPr>
          <a:xfrm>
            <a:off x="232257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8" name="Shape 34"/>
          <p:cNvSpPr/>
          <p:nvPr/>
        </p:nvSpPr>
        <p:spPr>
          <a:xfrm>
            <a:off x="263347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9" name="Shape 35"/>
          <p:cNvSpPr/>
          <p:nvPr/>
        </p:nvSpPr>
        <p:spPr>
          <a:xfrm>
            <a:off x="294436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0" name="Shape 36"/>
          <p:cNvSpPr/>
          <p:nvPr/>
        </p:nvSpPr>
        <p:spPr>
          <a:xfrm>
            <a:off x="325526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1" name="Shape 37"/>
          <p:cNvSpPr/>
          <p:nvPr/>
        </p:nvSpPr>
        <p:spPr>
          <a:xfrm>
            <a:off x="356616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2" name="Shape 38"/>
          <p:cNvSpPr/>
          <p:nvPr/>
        </p:nvSpPr>
        <p:spPr>
          <a:xfrm>
            <a:off x="387705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3" name="Text 39"/>
          <p:cNvSpPr/>
          <p:nvPr/>
        </p:nvSpPr>
        <p:spPr>
          <a:xfrm>
            <a:off x="8138160" y="6419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  ·  LIVE DEMO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CROWD INTELLIGENCE &amp; COMMUNITY SAFETY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Reports. </a:t>
            </a:r>
            <a:pPr indent="0" marL="0">
              <a:buNone/>
            </a:pPr>
            <a:r>
              <a:rPr lang="en-US" sz="300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Smarter Decisions.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5486400" cy="3712464"/>
          </a:xfrm>
          <a:prstGeom prst="roundRect">
            <a:avLst>
              <a:gd name="adj" fmla="val 2217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00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· CROWDCAST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56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 × time crowd heatmap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011680" y="23408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7:00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825496" y="23408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8:00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39312" y="23408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9:00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453128" y="23408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266944" y="23408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13232" y="2542032"/>
            <a:ext cx="12801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Vanaz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29968" y="254203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B5F6B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6876" y="254203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15" name="Shape 13"/>
          <p:cNvSpPr/>
          <p:nvPr/>
        </p:nvSpPr>
        <p:spPr>
          <a:xfrm>
            <a:off x="2843784" y="254203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16" name="Shape 14"/>
          <p:cNvSpPr/>
          <p:nvPr/>
        </p:nvSpPr>
        <p:spPr>
          <a:xfrm>
            <a:off x="3250692" y="254203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0" y="254203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B0862A"/>
          </a:solidFill>
          <a:ln/>
        </p:spPr>
      </p:sp>
      <p:sp>
        <p:nvSpPr>
          <p:cNvPr id="18" name="Shape 16"/>
          <p:cNvSpPr/>
          <p:nvPr/>
        </p:nvSpPr>
        <p:spPr>
          <a:xfrm>
            <a:off x="4064508" y="254203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9A5B23"/>
          </a:solidFill>
          <a:ln/>
        </p:spPr>
      </p:sp>
      <p:sp>
        <p:nvSpPr>
          <p:cNvPr id="19" name="Shape 17"/>
          <p:cNvSpPr/>
          <p:nvPr/>
        </p:nvSpPr>
        <p:spPr>
          <a:xfrm>
            <a:off x="4471416" y="254203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20" name="Shape 18"/>
          <p:cNvSpPr/>
          <p:nvPr/>
        </p:nvSpPr>
        <p:spPr>
          <a:xfrm>
            <a:off x="4878324" y="254203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21" name="Shape 19"/>
          <p:cNvSpPr/>
          <p:nvPr/>
        </p:nvSpPr>
        <p:spPr>
          <a:xfrm>
            <a:off x="5285232" y="254203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807208"/>
            <a:ext cx="12801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Deccan Gymkhana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29968" y="2807208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B5F6B"/>
          </a:solidFill>
          <a:ln/>
        </p:spPr>
      </p:sp>
      <p:sp>
        <p:nvSpPr>
          <p:cNvPr id="24" name="Shape 22"/>
          <p:cNvSpPr/>
          <p:nvPr/>
        </p:nvSpPr>
        <p:spPr>
          <a:xfrm>
            <a:off x="2436876" y="2807208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25" name="Shape 23"/>
          <p:cNvSpPr/>
          <p:nvPr/>
        </p:nvSpPr>
        <p:spPr>
          <a:xfrm>
            <a:off x="2843784" y="2807208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50692" y="2807208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2807208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B0862A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4508" y="2807208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9A5B23"/>
          </a:solidFill>
          <a:ln/>
        </p:spPr>
      </p:sp>
      <p:sp>
        <p:nvSpPr>
          <p:cNvPr id="29" name="Shape 27"/>
          <p:cNvSpPr/>
          <p:nvPr/>
        </p:nvSpPr>
        <p:spPr>
          <a:xfrm>
            <a:off x="4471416" y="2807208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30" name="Shape 28"/>
          <p:cNvSpPr/>
          <p:nvPr/>
        </p:nvSpPr>
        <p:spPr>
          <a:xfrm>
            <a:off x="4878324" y="2807208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31" name="Shape 29"/>
          <p:cNvSpPr/>
          <p:nvPr/>
        </p:nvSpPr>
        <p:spPr>
          <a:xfrm>
            <a:off x="5285232" y="2807208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3072384"/>
            <a:ext cx="12801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 Court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29968" y="3072384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B5F6B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6876" y="3072384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35" name="Shape 33"/>
          <p:cNvSpPr/>
          <p:nvPr/>
        </p:nvSpPr>
        <p:spPr>
          <a:xfrm>
            <a:off x="2843784" y="3072384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36" name="Shape 34"/>
          <p:cNvSpPr/>
          <p:nvPr/>
        </p:nvSpPr>
        <p:spPr>
          <a:xfrm>
            <a:off x="3250692" y="3072384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3072384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B0862A"/>
          </a:solidFill>
          <a:ln/>
        </p:spPr>
      </p:sp>
      <p:sp>
        <p:nvSpPr>
          <p:cNvPr id="38" name="Shape 36"/>
          <p:cNvSpPr/>
          <p:nvPr/>
        </p:nvSpPr>
        <p:spPr>
          <a:xfrm>
            <a:off x="4064508" y="3072384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F0564A"/>
          </a:solidFill>
          <a:ln/>
        </p:spPr>
      </p:sp>
      <p:sp>
        <p:nvSpPr>
          <p:cNvPr id="39" name="Shape 37"/>
          <p:cNvSpPr/>
          <p:nvPr/>
        </p:nvSpPr>
        <p:spPr>
          <a:xfrm>
            <a:off x="4471416" y="3072384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40" name="Shape 38"/>
          <p:cNvSpPr/>
          <p:nvPr/>
        </p:nvSpPr>
        <p:spPr>
          <a:xfrm>
            <a:off x="4878324" y="3072384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41" name="Shape 39"/>
          <p:cNvSpPr/>
          <p:nvPr/>
        </p:nvSpPr>
        <p:spPr>
          <a:xfrm>
            <a:off x="5285232" y="3072384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3337560"/>
            <a:ext cx="12801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Shivaji Nagar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029968" y="3337560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B5F6B"/>
          </a:solidFill>
          <a:ln/>
        </p:spPr>
      </p:sp>
      <p:sp>
        <p:nvSpPr>
          <p:cNvPr id="44" name="Shape 42"/>
          <p:cNvSpPr/>
          <p:nvPr/>
        </p:nvSpPr>
        <p:spPr>
          <a:xfrm>
            <a:off x="2436876" y="3337560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45" name="Shape 43"/>
          <p:cNvSpPr/>
          <p:nvPr/>
        </p:nvSpPr>
        <p:spPr>
          <a:xfrm>
            <a:off x="2843784" y="3337560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46" name="Shape 44"/>
          <p:cNvSpPr/>
          <p:nvPr/>
        </p:nvSpPr>
        <p:spPr>
          <a:xfrm>
            <a:off x="3250692" y="3337560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47" name="Shape 45"/>
          <p:cNvSpPr/>
          <p:nvPr/>
        </p:nvSpPr>
        <p:spPr>
          <a:xfrm>
            <a:off x="3657600" y="3337560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B0862A"/>
          </a:solidFill>
          <a:ln/>
        </p:spPr>
      </p:sp>
      <p:sp>
        <p:nvSpPr>
          <p:cNvPr id="48" name="Shape 46"/>
          <p:cNvSpPr/>
          <p:nvPr/>
        </p:nvSpPr>
        <p:spPr>
          <a:xfrm>
            <a:off x="4064508" y="3337560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9A5B23"/>
          </a:solidFill>
          <a:ln/>
        </p:spPr>
      </p:sp>
      <p:sp>
        <p:nvSpPr>
          <p:cNvPr id="49" name="Shape 47"/>
          <p:cNvSpPr/>
          <p:nvPr/>
        </p:nvSpPr>
        <p:spPr>
          <a:xfrm>
            <a:off x="4471416" y="3337560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50" name="Shape 48"/>
          <p:cNvSpPr/>
          <p:nvPr/>
        </p:nvSpPr>
        <p:spPr>
          <a:xfrm>
            <a:off x="4878324" y="3337560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51" name="Shape 49"/>
          <p:cNvSpPr/>
          <p:nvPr/>
        </p:nvSpPr>
        <p:spPr>
          <a:xfrm>
            <a:off x="5285232" y="3337560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52" name="Text 50"/>
          <p:cNvSpPr/>
          <p:nvPr/>
        </p:nvSpPr>
        <p:spPr>
          <a:xfrm>
            <a:off x="713232" y="3602736"/>
            <a:ext cx="12801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Pune Rly Stn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029968" y="3602736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B5F6B"/>
          </a:solidFill>
          <a:ln/>
        </p:spPr>
      </p:sp>
      <p:sp>
        <p:nvSpPr>
          <p:cNvPr id="54" name="Shape 52"/>
          <p:cNvSpPr/>
          <p:nvPr/>
        </p:nvSpPr>
        <p:spPr>
          <a:xfrm>
            <a:off x="2436876" y="3602736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55" name="Shape 53"/>
          <p:cNvSpPr/>
          <p:nvPr/>
        </p:nvSpPr>
        <p:spPr>
          <a:xfrm>
            <a:off x="2843784" y="3602736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56" name="Shape 54"/>
          <p:cNvSpPr/>
          <p:nvPr/>
        </p:nvSpPr>
        <p:spPr>
          <a:xfrm>
            <a:off x="3250692" y="3602736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57" name="Shape 55"/>
          <p:cNvSpPr/>
          <p:nvPr/>
        </p:nvSpPr>
        <p:spPr>
          <a:xfrm>
            <a:off x="3657600" y="3602736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B0862A"/>
          </a:solidFill>
          <a:ln/>
        </p:spPr>
      </p:sp>
      <p:sp>
        <p:nvSpPr>
          <p:cNvPr id="58" name="Shape 56"/>
          <p:cNvSpPr/>
          <p:nvPr/>
        </p:nvSpPr>
        <p:spPr>
          <a:xfrm>
            <a:off x="4064508" y="3602736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9A5B23"/>
          </a:solidFill>
          <a:ln/>
        </p:spPr>
      </p:sp>
      <p:sp>
        <p:nvSpPr>
          <p:cNvPr id="59" name="Shape 57"/>
          <p:cNvSpPr/>
          <p:nvPr/>
        </p:nvSpPr>
        <p:spPr>
          <a:xfrm>
            <a:off x="4471416" y="3602736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60" name="Shape 58"/>
          <p:cNvSpPr/>
          <p:nvPr/>
        </p:nvSpPr>
        <p:spPr>
          <a:xfrm>
            <a:off x="4878324" y="3602736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61" name="Shape 59"/>
          <p:cNvSpPr/>
          <p:nvPr/>
        </p:nvSpPr>
        <p:spPr>
          <a:xfrm>
            <a:off x="5285232" y="3602736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62" name="Text 60"/>
          <p:cNvSpPr/>
          <p:nvPr/>
        </p:nvSpPr>
        <p:spPr>
          <a:xfrm>
            <a:off x="713232" y="3867912"/>
            <a:ext cx="12801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Swargate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29968" y="386791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B5F6B"/>
          </a:solidFill>
          <a:ln/>
        </p:spPr>
      </p:sp>
      <p:sp>
        <p:nvSpPr>
          <p:cNvPr id="64" name="Shape 62"/>
          <p:cNvSpPr/>
          <p:nvPr/>
        </p:nvSpPr>
        <p:spPr>
          <a:xfrm>
            <a:off x="2436876" y="386791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65" name="Shape 63"/>
          <p:cNvSpPr/>
          <p:nvPr/>
        </p:nvSpPr>
        <p:spPr>
          <a:xfrm>
            <a:off x="2843784" y="386791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66" name="Shape 64"/>
          <p:cNvSpPr/>
          <p:nvPr/>
        </p:nvSpPr>
        <p:spPr>
          <a:xfrm>
            <a:off x="3250692" y="386791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8A6D1F"/>
          </a:solidFill>
          <a:ln/>
        </p:spPr>
      </p:sp>
      <p:sp>
        <p:nvSpPr>
          <p:cNvPr id="67" name="Shape 65"/>
          <p:cNvSpPr/>
          <p:nvPr/>
        </p:nvSpPr>
        <p:spPr>
          <a:xfrm>
            <a:off x="3657600" y="386791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B0862A"/>
          </a:solidFill>
          <a:ln/>
        </p:spPr>
      </p:sp>
      <p:sp>
        <p:nvSpPr>
          <p:cNvPr id="68" name="Shape 66"/>
          <p:cNvSpPr/>
          <p:nvPr/>
        </p:nvSpPr>
        <p:spPr>
          <a:xfrm>
            <a:off x="4064508" y="386791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9A5B23"/>
          </a:solidFill>
          <a:ln/>
        </p:spPr>
      </p:sp>
      <p:sp>
        <p:nvSpPr>
          <p:cNvPr id="69" name="Shape 67"/>
          <p:cNvSpPr/>
          <p:nvPr/>
        </p:nvSpPr>
        <p:spPr>
          <a:xfrm>
            <a:off x="4471416" y="386791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70" name="Shape 68"/>
          <p:cNvSpPr/>
          <p:nvPr/>
        </p:nvSpPr>
        <p:spPr>
          <a:xfrm>
            <a:off x="4878324" y="386791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A83232"/>
          </a:solidFill>
          <a:ln/>
        </p:spPr>
      </p:sp>
      <p:sp>
        <p:nvSpPr>
          <p:cNvPr id="71" name="Shape 69"/>
          <p:cNvSpPr/>
          <p:nvPr/>
        </p:nvSpPr>
        <p:spPr>
          <a:xfrm>
            <a:off x="5285232" y="3867912"/>
            <a:ext cx="365760" cy="224028"/>
          </a:xfrm>
          <a:prstGeom prst="roundRect">
            <a:avLst>
              <a:gd name="adj" fmla="val 14286"/>
            </a:avLst>
          </a:prstGeom>
          <a:solidFill>
            <a:srgbClr val="155A66"/>
          </a:solidFill>
          <a:ln/>
        </p:spPr>
      </p:sp>
      <p:sp>
        <p:nvSpPr>
          <p:cNvPr id="72" name="Shape 70"/>
          <p:cNvSpPr/>
          <p:nvPr/>
        </p:nvSpPr>
        <p:spPr>
          <a:xfrm>
            <a:off x="713232" y="4224528"/>
            <a:ext cx="82296" cy="82296"/>
          </a:xfrm>
          <a:prstGeom prst="ellipse">
            <a:avLst/>
          </a:prstGeom>
          <a:solidFill>
            <a:srgbClr val="1B5F6B"/>
          </a:solidFill>
          <a:ln/>
        </p:spPr>
      </p:sp>
      <p:sp>
        <p:nvSpPr>
          <p:cNvPr id="73" name="Text 71"/>
          <p:cNvSpPr/>
          <p:nvPr/>
        </p:nvSpPr>
        <p:spPr>
          <a:xfrm>
            <a:off x="841248" y="414223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627632" y="4224528"/>
            <a:ext cx="82296" cy="82296"/>
          </a:xfrm>
          <a:prstGeom prst="ellipse">
            <a:avLst/>
          </a:prstGeom>
          <a:solidFill>
            <a:srgbClr val="8A6D1F"/>
          </a:solidFill>
          <a:ln/>
        </p:spPr>
      </p:sp>
      <p:sp>
        <p:nvSpPr>
          <p:cNvPr id="75" name="Text 73"/>
          <p:cNvSpPr/>
          <p:nvPr/>
        </p:nvSpPr>
        <p:spPr>
          <a:xfrm>
            <a:off x="1755648" y="414223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Moderate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542032" y="4224528"/>
            <a:ext cx="82296" cy="82296"/>
          </a:xfrm>
          <a:prstGeom prst="ellipse">
            <a:avLst/>
          </a:prstGeom>
          <a:solidFill>
            <a:srgbClr val="9A5B23"/>
          </a:solidFill>
          <a:ln/>
        </p:spPr>
      </p:sp>
      <p:sp>
        <p:nvSpPr>
          <p:cNvPr id="77" name="Text 75"/>
          <p:cNvSpPr/>
          <p:nvPr/>
        </p:nvSpPr>
        <p:spPr>
          <a:xfrm>
            <a:off x="2670048" y="414223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Busy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456432" y="4224528"/>
            <a:ext cx="82296" cy="82296"/>
          </a:xfrm>
          <a:prstGeom prst="ellipse">
            <a:avLst/>
          </a:prstGeom>
          <a:solidFill>
            <a:srgbClr val="A83232"/>
          </a:solidFill>
          <a:ln/>
        </p:spPr>
      </p:sp>
      <p:sp>
        <p:nvSpPr>
          <p:cNvPr id="79" name="Text 77"/>
          <p:cNvSpPr/>
          <p:nvPr/>
        </p:nvSpPr>
        <p:spPr>
          <a:xfrm>
            <a:off x="3584448" y="414223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Packed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13232" y="4498848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One-tap anonymous reports: Empty / Moderate / Packed — no account.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13232" y="4736592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15-min half-life decay · confidence + freshness shown on every report.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713232" y="497433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tap re-badges Copilot route advice across the whole app.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263640" y="1517904"/>
            <a:ext cx="5468112" cy="3712464"/>
          </a:xfrm>
          <a:prstGeom prst="roundRect">
            <a:avLst>
              <a:gd name="adj" fmla="val 2217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519672" y="17007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 · RESCUE GRID + SAFESTREETS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519672" y="19751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 gets ranked, not just logged</a:t>
            </a:r>
            <a:endParaRPr lang="en-US" sz="1350" dirty="0"/>
          </a:p>
        </p:txBody>
      </p:sp>
      <p:sp>
        <p:nvSpPr>
          <p:cNvPr id="86" name="Shape 84"/>
          <p:cNvSpPr/>
          <p:nvPr/>
        </p:nvSpPr>
        <p:spPr>
          <a:xfrm>
            <a:off x="6519672" y="2377440"/>
            <a:ext cx="4956048" cy="1170432"/>
          </a:xfrm>
          <a:prstGeom prst="roundRect">
            <a:avLst>
              <a:gd name="adj" fmla="val 7031"/>
            </a:avLst>
          </a:prstGeom>
          <a:solidFill>
            <a:srgbClr val="121B29"/>
          </a:solidFill>
          <a:ln w="9525">
            <a:solidFill>
              <a:srgbClr val="2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6702552" y="2505456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  LOST CHILD · Swargate</a:t>
            </a:r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score 100/100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6702552" y="2816352"/>
            <a:ext cx="4590288" cy="64008"/>
          </a:xfrm>
          <a:prstGeom prst="roundRect">
            <a:avLst>
              <a:gd name="adj" fmla="val 42857"/>
            </a:avLst>
          </a:prstGeom>
          <a:solidFill>
            <a:srgbClr val="F0564A"/>
          </a:solidFill>
          <a:ln/>
        </p:spPr>
      </p:sp>
      <p:sp>
        <p:nvSpPr>
          <p:cNvPr id="89" name="Text 87"/>
          <p:cNvSpPr/>
          <p:nvPr/>
        </p:nvSpPr>
        <p:spPr>
          <a:xfrm>
            <a:off x="6702552" y="2944368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why: type +88 · 2 affected +10 · hub footfall +10 · just now +8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702552" y="3200400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 </a:t>
            </a:r>
            <a:pPr indent="0" marL="0">
              <a:buNone/>
            </a:pPr>
            <a:r>
              <a:rPr lang="en-US" sz="950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Freeze exits 10 min · announce on PA · review CCTV · staff lift lobbies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519672" y="3767328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 score = severity + people affected + station footfall + recency — the queue re-ranks and explains itself.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6519672" y="4224528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team / resolve workflow in the prototype; SafeStreets adds a street-hazard risk map for the walk to the station.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57200" y="5431536"/>
            <a:ext cx="11274552" cy="749808"/>
          </a:xfrm>
          <a:prstGeom prst="roundRect">
            <a:avLst>
              <a:gd name="adj" fmla="val 10976"/>
            </a:avLst>
          </a:prstGeom>
          <a:solidFill>
            <a:srgbClr val="33240D"/>
          </a:solidFill>
          <a:ln w="12700">
            <a:solidFill>
              <a:srgbClr val="6B4A1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5431536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ONLY — does not dispatch real emergency services.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 real emergency in India, call 112 or notify metro staff. Crowd reports and incidents are seeded samples labelled “sample” / “DEMO DATA” in the UI.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457200" y="6552590"/>
            <a:ext cx="3419856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5720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97" name="Shape 95"/>
          <p:cNvSpPr/>
          <p:nvPr/>
        </p:nvSpPr>
        <p:spPr>
          <a:xfrm>
            <a:off x="76809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98" name="Shape 96"/>
          <p:cNvSpPr/>
          <p:nvPr/>
        </p:nvSpPr>
        <p:spPr>
          <a:xfrm>
            <a:off x="107899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99" name="Shape 97"/>
          <p:cNvSpPr/>
          <p:nvPr/>
        </p:nvSpPr>
        <p:spPr>
          <a:xfrm>
            <a:off x="138988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00" name="Shape 98"/>
          <p:cNvSpPr/>
          <p:nvPr/>
        </p:nvSpPr>
        <p:spPr>
          <a:xfrm>
            <a:off x="170078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01" name="Shape 99"/>
          <p:cNvSpPr/>
          <p:nvPr/>
        </p:nvSpPr>
        <p:spPr>
          <a:xfrm>
            <a:off x="1984248" y="6501384"/>
            <a:ext cx="102413" cy="102413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32257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63347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294436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25526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56616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387705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08" name="Text 106"/>
          <p:cNvSpPr/>
          <p:nvPr/>
        </p:nvSpPr>
        <p:spPr>
          <a:xfrm>
            <a:off x="8138160" y="6419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  ·  CROWD &amp; SAFETY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TECHNICAL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Around a </a:t>
            </a:r>
            <a:pPr indent="0" marL="0">
              <a:buNone/>
            </a:pPr>
            <a:r>
              <a:rPr lang="en-US" sz="300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Decision Engine.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321040" cy="731520"/>
          </a:xfrm>
          <a:prstGeom prst="roundRect">
            <a:avLst>
              <a:gd name="adj" fmla="val 11250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5727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94944" y="18288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15 App Router · React 19 · TypeScript · Tailwind CSS — 7 routes: home · copilot · crowd · safety · guide · community · station/[id]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617720" y="2231136"/>
            <a:ext cx="0" cy="118872"/>
          </a:xfrm>
          <a:prstGeom prst="line">
            <a:avLst/>
          </a:prstGeom>
          <a:noFill/>
          <a:ln w="15875">
            <a:solidFill>
              <a:srgbClr val="5F6E8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2368296"/>
            <a:ext cx="8321040" cy="731520"/>
          </a:xfrm>
          <a:prstGeom prst="roundRect">
            <a:avLst>
              <a:gd name="adj" fmla="val 11250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4597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4944" y="27157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stores × 6 (live · crowd · rescue · community · safe · prefs) — persisted to localStorage; “reset demo” wipes every key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617720" y="3118104"/>
            <a:ext cx="0" cy="118872"/>
          </a:xfrm>
          <a:prstGeom prst="line">
            <a:avLst/>
          </a:prstGeom>
          <a:noFill/>
          <a:ln w="15875">
            <a:solidFill>
              <a:srgbClr val="5F6E8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3255264"/>
            <a:ext cx="8321040" cy="731520"/>
          </a:xfrm>
          <a:prstGeom prst="roundRect">
            <a:avLst>
              <a:gd name="adj" fmla="val 11250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" y="334670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DATA CORE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4944" y="360273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data/pune-metro.json — 29 stations · Aqua + Purple · District Court interchange + seeded reports, incidents, hazards — labelled DEMO DATASET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617720" y="4005072"/>
            <a:ext cx="0" cy="118872"/>
          </a:xfrm>
          <a:prstGeom prst="line">
            <a:avLst/>
          </a:prstGeom>
          <a:noFill/>
          <a:ln w="15875">
            <a:solidFill>
              <a:srgbClr val="5F6E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4142232"/>
            <a:ext cx="8321040" cy="731520"/>
          </a:xfrm>
          <a:prstGeom prst="roundRect">
            <a:avLst>
              <a:gd name="adj" fmla="val 11250"/>
            </a:avLst>
          </a:prstGeom>
          <a:solidFill>
            <a:srgbClr val="0E2E33"/>
          </a:solidFill>
          <a:ln w="15875">
            <a:solidFill>
              <a:srgbClr val="0E6E7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" y="42336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— lib/ · PURE TYPESCRIPT, ZERO FRAMEWORK IMPORTS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4944" y="448970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over (station, line) states · fare ₹10 + ₹2/stop, cap ₹35 · crowd penalty + 15-min half-life decay · triage scoring · explain layer — covered by 28 vitest tests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617720" y="4892040"/>
            <a:ext cx="0" cy="118872"/>
          </a:xfrm>
          <a:prstGeom prst="line">
            <a:avLst/>
          </a:prstGeom>
          <a:noFill/>
          <a:ln w="15875">
            <a:solidFill>
              <a:srgbClr val="5F6E8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5029200"/>
            <a:ext cx="8321040" cy="731520"/>
          </a:xfrm>
          <a:prstGeom prst="roundRect">
            <a:avLst>
              <a:gd name="adj" fmla="val 11250"/>
            </a:avLst>
          </a:prstGeom>
          <a:solidFill>
            <a:srgbClr val="0D1420"/>
          </a:solidFill>
          <a:ln w="12700">
            <a:solidFill>
              <a:srgbClr val="2A3A50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" y="512064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 AI LAYER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4944" y="537667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/api/copilot → GLM via z.ai, server-side key only · 3 s timeout · strict-JSON validation → on any failure: deterministic template explanations, badged “offline AI mode”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144000" y="1481328"/>
            <a:ext cx="2587752" cy="1389888"/>
          </a:xfrm>
          <a:prstGeom prst="roundRect">
            <a:avLst>
              <a:gd name="adj" fmla="val 5921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26880" y="160934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spc="12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WITH NO API KEY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326880" y="1956816"/>
            <a:ext cx="2221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Routing, crowd, triage and the full demo are complete in deterministic mode. AI is an upgrade, never a dependency.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144000" y="3017520"/>
            <a:ext cx="2587752" cy="1389888"/>
          </a:xfrm>
          <a:prstGeom prst="roundRect">
            <a:avLst>
              <a:gd name="adj" fmla="val 5921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26880" y="314553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spc="12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TESTS · NEXT BUILD CLEAN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326880" y="3493008"/>
            <a:ext cx="2221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constraints, fare capping, crowd decay, triage ranking, persistence. Zero console errors on desktop + 390 px.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9144000" y="4553712"/>
            <a:ext cx="2587752" cy="1389888"/>
          </a:xfrm>
          <a:prstGeom prst="roundRect">
            <a:avLst>
              <a:gd name="adj" fmla="val 5921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26880" y="468172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spc="12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PWA-READY SHELL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326880" y="5029200"/>
            <a:ext cx="2221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 shipped; offline trip caching is on the roadmap — honestly marked as future work.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5720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E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band is the moat: pure TypeScript, framework-free, unit-tested — portable to a real feed without rewriting the app.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6552590"/>
            <a:ext cx="3419856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7899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7" name="Shape 35"/>
          <p:cNvSpPr/>
          <p:nvPr/>
        </p:nvSpPr>
        <p:spPr>
          <a:xfrm>
            <a:off x="138988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8" name="Shape 36"/>
          <p:cNvSpPr/>
          <p:nvPr/>
        </p:nvSpPr>
        <p:spPr>
          <a:xfrm>
            <a:off x="170078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9" name="Shape 37"/>
          <p:cNvSpPr/>
          <p:nvPr/>
        </p:nvSpPr>
        <p:spPr>
          <a:xfrm>
            <a:off x="201168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0" name="Shape 38"/>
          <p:cNvSpPr/>
          <p:nvPr/>
        </p:nvSpPr>
        <p:spPr>
          <a:xfrm>
            <a:off x="2295144" y="6501384"/>
            <a:ext cx="102413" cy="102413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41" name="Shape 39"/>
          <p:cNvSpPr/>
          <p:nvPr/>
        </p:nvSpPr>
        <p:spPr>
          <a:xfrm>
            <a:off x="263347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2" name="Shape 40"/>
          <p:cNvSpPr/>
          <p:nvPr/>
        </p:nvSpPr>
        <p:spPr>
          <a:xfrm>
            <a:off x="294436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3" name="Shape 41"/>
          <p:cNvSpPr/>
          <p:nvPr/>
        </p:nvSpPr>
        <p:spPr>
          <a:xfrm>
            <a:off x="325526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4" name="Shape 42"/>
          <p:cNvSpPr/>
          <p:nvPr/>
        </p:nvSpPr>
        <p:spPr>
          <a:xfrm>
            <a:off x="356616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5" name="Shape 43"/>
          <p:cNvSpPr/>
          <p:nvPr/>
        </p:nvSpPr>
        <p:spPr>
          <a:xfrm>
            <a:off x="387705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6" name="Text 44"/>
          <p:cNvSpPr/>
          <p:nvPr/>
        </p:nvSpPr>
        <p:spPr>
          <a:xfrm>
            <a:off x="8138160" y="6419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  ·  ARCHITECTURE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POSITIONING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Route Search </a:t>
            </a:r>
            <a:pPr indent="0" marL="0">
              <a:buNone/>
            </a:pPr>
            <a:r>
              <a:rPr lang="en-US" sz="300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Decision Support.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566160"/>
                <a:gridCol w="505663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CAPABILITY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7A3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TYPICAL ROUTE PLANNER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1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METROMIND — BUILT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 suggestions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7A3B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Varies — usually a single best route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Three explained plans with visible trade-offs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Travel constraints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7A3B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Varies — rarely combined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Arrive-by · budget · avoid crowds · step-free, one tap each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Disruption response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7A3B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Injected delays re-plan live — with honest failure states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Crowd intelligence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7A3B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Community heatmap: one-tap reports, decay, confidence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Safety support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7A3B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Triage-ranked incident queue with recommended actions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Community tools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7A3B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5F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Lost &amp; found · travel buddies · builder matching · events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2303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E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Comparisons are fair by design — “varies” means capable apps exist; the claim is the combination, not that these are unique.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57200" y="5614416"/>
            <a:ext cx="11274552" cy="621792"/>
          </a:xfrm>
          <a:prstGeom prst="roundRect">
            <a:avLst>
              <a:gd name="adj" fmla="val 13235"/>
            </a:avLst>
          </a:prstGeom>
          <a:solidFill>
            <a:srgbClr val="241A3D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5614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combination is the differentiator:  </a:t>
            </a:r>
            <a:pPr indent="0" marL="0">
              <a:buNone/>
            </a:pPr>
            <a:r>
              <a:rPr lang="en-US" sz="110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state core means a crowd report, an injected delay and an incident all change the same recommendation surface — in front of the judge, live.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6552590"/>
            <a:ext cx="3419856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1" name="Shape 8"/>
          <p:cNvSpPr/>
          <p:nvPr/>
        </p:nvSpPr>
        <p:spPr>
          <a:xfrm>
            <a:off x="107899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2" name="Shape 9"/>
          <p:cNvSpPr/>
          <p:nvPr/>
        </p:nvSpPr>
        <p:spPr>
          <a:xfrm>
            <a:off x="138988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3" name="Shape 10"/>
          <p:cNvSpPr/>
          <p:nvPr/>
        </p:nvSpPr>
        <p:spPr>
          <a:xfrm>
            <a:off x="170078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4" name="Shape 11"/>
          <p:cNvSpPr/>
          <p:nvPr/>
        </p:nvSpPr>
        <p:spPr>
          <a:xfrm>
            <a:off x="201168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5" name="Shape 12"/>
          <p:cNvSpPr/>
          <p:nvPr/>
        </p:nvSpPr>
        <p:spPr>
          <a:xfrm>
            <a:off x="232257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6" name="Shape 13"/>
          <p:cNvSpPr/>
          <p:nvPr/>
        </p:nvSpPr>
        <p:spPr>
          <a:xfrm>
            <a:off x="2606040" y="6501384"/>
            <a:ext cx="102413" cy="102413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17" name="Shape 14"/>
          <p:cNvSpPr/>
          <p:nvPr/>
        </p:nvSpPr>
        <p:spPr>
          <a:xfrm>
            <a:off x="294436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8" name="Shape 15"/>
          <p:cNvSpPr/>
          <p:nvPr/>
        </p:nvSpPr>
        <p:spPr>
          <a:xfrm>
            <a:off x="325526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19" name="Shape 16"/>
          <p:cNvSpPr/>
          <p:nvPr/>
        </p:nvSpPr>
        <p:spPr>
          <a:xfrm>
            <a:off x="356616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20" name="Shape 17"/>
          <p:cNvSpPr/>
          <p:nvPr/>
        </p:nvSpPr>
        <p:spPr>
          <a:xfrm>
            <a:off x="387705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21" name="Text 18"/>
          <p:cNvSpPr/>
          <p:nvPr/>
        </p:nvSpPr>
        <p:spPr>
          <a:xfrm>
            <a:off x="8138160" y="6419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  ·  POSITIONING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IMPACT &amp; FEASIBILITY FOR PUNE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for the Realities </a:t>
            </a:r>
            <a:pPr indent="0" marL="0">
              <a:buNone/>
            </a:pPr>
            <a:r>
              <a:rPr lang="en-US" sz="300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Urban Commuting.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82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97510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Informed decisions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26771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Time, fare and crowd trade-offs visible before you commit to a departure.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9272" y="1554480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682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97510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crowding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20440" y="226771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Fresh, decaying community reports give platforms a forecast they never had.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1344" y="1554480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682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82512" y="197510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Accessible guidance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82512" y="226771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Step-free chips, lift and exit details, first-rider guide in EN / हिंदी / मराठी.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43416" y="1554480"/>
            <a:ext cx="2670048" cy="1572768"/>
          </a:xfrm>
          <a:prstGeom prst="roundRect">
            <a:avLst>
              <a:gd name="adj" fmla="val 5233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44584" y="1682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44584" y="197510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civic voice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44584" y="226771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Hazards and incidents ranked and explained — not lost in a comment feed.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PRACTICAL PATH FORWARD — PHASES AS STATIONS ON ONE 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370832"/>
            <a:ext cx="8229600" cy="0"/>
          </a:xfrm>
          <a:prstGeom prst="line">
            <a:avLst/>
          </a:prstGeom>
          <a:noFill/>
          <a:ln w="25400">
            <a:solidFill>
              <a:srgbClr val="2A3A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" y="4288536"/>
            <a:ext cx="164592" cy="164592"/>
          </a:xfrm>
          <a:prstGeom prst="ellipse">
            <a:avLst/>
          </a:prstGeom>
          <a:solidFill>
            <a:srgbClr val="00D1D8"/>
          </a:solidFill>
          <a:ln w="19050">
            <a:solidFill>
              <a:srgbClr val="080B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03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· NOW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590288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on a verified station list with labelled simulated data — this build.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92424" y="4288536"/>
            <a:ext cx="164592" cy="164592"/>
          </a:xfrm>
          <a:prstGeom prst="ellipse">
            <a:avLst/>
          </a:prstGeom>
          <a:solidFill>
            <a:srgbClr val="00D1D8"/>
          </a:solidFill>
          <a:ln w="19050">
            <a:solidFill>
              <a:srgbClr val="080B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803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0" y="4590288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with commuters; verify station facilities and accessibility on site.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35624" y="4288536"/>
            <a:ext cx="164592" cy="164592"/>
          </a:xfrm>
          <a:prstGeom prst="ellipse">
            <a:avLst/>
          </a:prstGeom>
          <a:solidFill>
            <a:srgbClr val="8B5CF6"/>
          </a:solidFill>
          <a:ln w="19050">
            <a:solidFill>
              <a:srgbClr val="080B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803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0" y="4590288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authorized metro-data integrations — GTFS / Maha-Metro — for real pilots.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78824" y="4288536"/>
            <a:ext cx="164592" cy="164592"/>
          </a:xfrm>
          <a:prstGeom prst="ellipse">
            <a:avLst/>
          </a:prstGeom>
          <a:solidFill>
            <a:srgbClr val="8B5CF6"/>
          </a:solidFill>
          <a:ln w="19050">
            <a:solidFill>
              <a:srgbClr val="080B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3803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0" y="4590288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usefulness, reliability, accessibility and privacy before wider deployment.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as potential benefits and future steps — not measured outcomes. No adoption or accuracy numbers are claimed.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6552590"/>
            <a:ext cx="3419856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7" name="Shape 35"/>
          <p:cNvSpPr/>
          <p:nvPr/>
        </p:nvSpPr>
        <p:spPr>
          <a:xfrm>
            <a:off x="76809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899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9" name="Shape 37"/>
          <p:cNvSpPr/>
          <p:nvPr/>
        </p:nvSpPr>
        <p:spPr>
          <a:xfrm>
            <a:off x="138988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0" name="Shape 38"/>
          <p:cNvSpPr/>
          <p:nvPr/>
        </p:nvSpPr>
        <p:spPr>
          <a:xfrm>
            <a:off x="170078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1" name="Shape 39"/>
          <p:cNvSpPr/>
          <p:nvPr/>
        </p:nvSpPr>
        <p:spPr>
          <a:xfrm>
            <a:off x="201168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2" name="Shape 40"/>
          <p:cNvSpPr/>
          <p:nvPr/>
        </p:nvSpPr>
        <p:spPr>
          <a:xfrm>
            <a:off x="232257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3" name="Shape 41"/>
          <p:cNvSpPr/>
          <p:nvPr/>
        </p:nvSpPr>
        <p:spPr>
          <a:xfrm>
            <a:off x="263347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4" name="Shape 42"/>
          <p:cNvSpPr/>
          <p:nvPr/>
        </p:nvSpPr>
        <p:spPr>
          <a:xfrm>
            <a:off x="2916936" y="6501384"/>
            <a:ext cx="102413" cy="102413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45" name="Shape 43"/>
          <p:cNvSpPr/>
          <p:nvPr/>
        </p:nvSpPr>
        <p:spPr>
          <a:xfrm>
            <a:off x="325526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6" name="Shape 44"/>
          <p:cNvSpPr/>
          <p:nvPr/>
        </p:nvSpPr>
        <p:spPr>
          <a:xfrm>
            <a:off x="356616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7" name="Shape 45"/>
          <p:cNvSpPr/>
          <p:nvPr/>
        </p:nvSpPr>
        <p:spPr>
          <a:xfrm>
            <a:off x="387705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48" name="Text 46"/>
          <p:cNvSpPr/>
          <p:nvPr/>
        </p:nvSpPr>
        <p:spPr>
          <a:xfrm>
            <a:off x="8138160" y="6419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  ·  IMPACT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HONEST BUILD STATUS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Focused Prototype </a:t>
            </a:r>
            <a:pPr indent="0" marL="0">
              <a:buNone/>
            </a:pPr>
            <a:r>
              <a:rPr lang="en-US" sz="300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 Practical Path Forward.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&amp; VERIFIED IN THE REPO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Constraint-aware copilot: Dijkstra engine, 3 strategies, why-lines, trade-off table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457200" y="23088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Control: inject delays (+15′ → +30′ accumulate), crowd spikes, simulated clock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457200" y="28072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CrowdCast: heatmap, one-tap reports, 15-min half-life decay, confidence + freshness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457200" y="330555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Rescue Grid: triage scoring + recommended actions · SafeStreets street-hazard map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457200" y="38039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 Guide: 5-step first-rider guide EN / हिंदी / मराठी + per-station pages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457200" y="43022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Community: lost &amp; found, buddy match with reasons, ConnectIQ-style builder matching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upgrade path: GLM via z.ai, 3 s timeout, instant deterministic fallback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57200" y="52989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00D1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gate: 28 vitest tests · clean build · zero console errors (desktop + mobile)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7208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— IN DELIVERY ORDER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20840" y="181051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official data; authorized Maha-Metro / GTFS feed integration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720840" y="2308860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AFC-gate-based crowding to replace or calibrate community reports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720840" y="2807208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Authority dashboards for the Rescue Grid (needs operator sign-off)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720840" y="3305556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app-wide Hindi / Marathi i18n beyond the guide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720840" y="3803904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offline trip caching; multimodal PMPML / BRTS routing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6720840" y="430225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verification for SafeStreets; abuse-prevention for reports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720840" y="4800600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commuter testing, accessibility validation, production deployment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57200" y="5870448"/>
            <a:ext cx="11274552" cy="548640"/>
          </a:xfrm>
          <a:prstGeom prst="roundRect">
            <a:avLst>
              <a:gd name="adj" fmla="val 15000"/>
            </a:avLst>
          </a:prstGeom>
          <a:solidFill>
            <a:srgbClr val="0D14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58704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HONESTY POLICY  </a:t>
            </a:r>
            <a:pPr indent="0" marL="0">
              <a:buNone/>
            </a:pPr>
            <a:r>
              <a:rPr lang="en-US" sz="100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fare, headway and amenity is labelled DEMO DATASET / ESTIMATE in-product. Simulated information is never presented as official Maha-Metro operational data.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6552590"/>
            <a:ext cx="3419856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899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27" name="Shape 25"/>
          <p:cNvSpPr/>
          <p:nvPr/>
        </p:nvSpPr>
        <p:spPr>
          <a:xfrm>
            <a:off x="138988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28" name="Shape 26"/>
          <p:cNvSpPr/>
          <p:nvPr/>
        </p:nvSpPr>
        <p:spPr>
          <a:xfrm>
            <a:off x="1700784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29" name="Shape 27"/>
          <p:cNvSpPr/>
          <p:nvPr/>
        </p:nvSpPr>
        <p:spPr>
          <a:xfrm>
            <a:off x="201168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0" name="Shape 28"/>
          <p:cNvSpPr/>
          <p:nvPr/>
        </p:nvSpPr>
        <p:spPr>
          <a:xfrm>
            <a:off x="232257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1" name="Shape 29"/>
          <p:cNvSpPr/>
          <p:nvPr/>
        </p:nvSpPr>
        <p:spPr>
          <a:xfrm>
            <a:off x="2633472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2" name="Shape 30"/>
          <p:cNvSpPr/>
          <p:nvPr/>
        </p:nvSpPr>
        <p:spPr>
          <a:xfrm>
            <a:off x="2944368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3" name="Shape 31"/>
          <p:cNvSpPr/>
          <p:nvPr/>
        </p:nvSpPr>
        <p:spPr>
          <a:xfrm>
            <a:off x="3227832" y="6501384"/>
            <a:ext cx="102413" cy="102413"/>
          </a:xfrm>
          <a:prstGeom prst="ellipse">
            <a:avLst/>
          </a:prstGeom>
          <a:solidFill>
            <a:srgbClr val="00D1D8"/>
          </a:solidFill>
          <a:ln/>
        </p:spPr>
      </p:sp>
      <p:sp>
        <p:nvSpPr>
          <p:cNvPr id="34" name="Shape 32"/>
          <p:cNvSpPr/>
          <p:nvPr/>
        </p:nvSpPr>
        <p:spPr>
          <a:xfrm>
            <a:off x="3566160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5" name="Shape 33"/>
          <p:cNvSpPr/>
          <p:nvPr/>
        </p:nvSpPr>
        <p:spPr>
          <a:xfrm>
            <a:off x="3877056" y="6528816"/>
            <a:ext cx="47549" cy="47549"/>
          </a:xfrm>
          <a:prstGeom prst="ellipse">
            <a:avLst/>
          </a:prstGeom>
          <a:solidFill>
            <a:srgbClr val="243244"/>
          </a:solidFill>
          <a:ln/>
        </p:spPr>
      </p:sp>
      <p:sp>
        <p:nvSpPr>
          <p:cNvPr id="36" name="Text 34"/>
          <p:cNvSpPr/>
          <p:nvPr/>
        </p:nvSpPr>
        <p:spPr>
          <a:xfrm>
            <a:off x="8138160" y="6419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  ·  BUILD STATUS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874520"/>
            <a:ext cx="4846320" cy="1252728"/>
          </a:xfrm>
          <a:prstGeom prst="line">
            <a:avLst/>
          </a:prstGeom>
          <a:noFill/>
          <a:ln w="28575">
            <a:solidFill>
              <a:srgbClr val="0E6E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6272784" y="1874520"/>
            <a:ext cx="5001768" cy="1252728"/>
          </a:xfrm>
          <a:prstGeom prst="line">
            <a:avLst/>
          </a:prstGeom>
          <a:noFill/>
          <a:ln w="28575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52055" y="2179564"/>
            <a:ext cx="91440" cy="91440"/>
          </a:xfrm>
          <a:prstGeom prst="ellipse">
            <a:avLst/>
          </a:prstGeom>
          <a:solidFill>
            <a:srgbClr val="0E6E73"/>
          </a:solidFill>
          <a:ln/>
        </p:spPr>
      </p:sp>
      <p:sp>
        <p:nvSpPr>
          <p:cNvPr id="5" name="Shape 3"/>
          <p:cNvSpPr/>
          <p:nvPr/>
        </p:nvSpPr>
        <p:spPr>
          <a:xfrm>
            <a:off x="9828337" y="217956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3802532" y="2517800"/>
            <a:ext cx="91440" cy="91440"/>
          </a:xfrm>
          <a:prstGeom prst="ellipse">
            <a:avLst/>
          </a:prstGeom>
          <a:solidFill>
            <a:srgbClr val="0E6E73"/>
          </a:solidFill>
          <a:ln/>
        </p:spPr>
      </p:sp>
      <p:sp>
        <p:nvSpPr>
          <p:cNvPr id="7" name="Shape 5"/>
          <p:cNvSpPr/>
          <p:nvPr/>
        </p:nvSpPr>
        <p:spPr>
          <a:xfrm>
            <a:off x="8477860" y="251780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5153010" y="2856037"/>
            <a:ext cx="91440" cy="91440"/>
          </a:xfrm>
          <a:prstGeom prst="ellipse">
            <a:avLst/>
          </a:prstGeom>
          <a:solidFill>
            <a:srgbClr val="0E6E73"/>
          </a:solidFill>
          <a:ln/>
        </p:spPr>
      </p:sp>
      <p:sp>
        <p:nvSpPr>
          <p:cNvPr id="9" name="Shape 7"/>
          <p:cNvSpPr/>
          <p:nvPr/>
        </p:nvSpPr>
        <p:spPr>
          <a:xfrm>
            <a:off x="7127382" y="2856037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5929884" y="2962656"/>
            <a:ext cx="329184" cy="329184"/>
          </a:xfrm>
          <a:prstGeom prst="ellipse">
            <a:avLst/>
          </a:prstGeom>
          <a:solidFill>
            <a:srgbClr val="00D1D8"/>
          </a:solidFill>
          <a:ln w="25400">
            <a:solidFill>
              <a:srgbClr val="080B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40156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METROMIND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370332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Commute Deserves a Smarter Decision.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103120" y="4434840"/>
            <a:ext cx="7982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7A3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planning, explainable AI, crowd intelligence, safety guidance and community support — one commuter-focused experience, built and demo-ready.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5120640"/>
            <a:ext cx="7982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300" kern="0" dirty="0">
                <a:solidFill>
                  <a:srgbClr val="00D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FOR PUNE. DESIGNED FOR SMARTER JOURNEYS.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03120" y="5577840"/>
            <a:ext cx="7982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  </a:t>
            </a:r>
            <a:pPr algn="ctr" indent="0" marL="0">
              <a:buNone/>
            </a:pPr>
            <a:r>
              <a:rPr lang="en-US" sz="2000" dirty="0">
                <a:solidFill>
                  <a:srgbClr val="5F6E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03120" y="6199632"/>
            <a:ext cx="7982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5F6E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URBANSYNC — ARYA JANNAWAR · SIDDHANT PARDESHI · AVANI JANNAWAR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MetroMind — AI Commute Copilot for Pune Metro</dc:title>
  <dc:subject>Codex Dayline — Urban Mobility track pitch</dc:subject>
  <dc:creator>Team UrbanSync</dc:creator>
  <cp:lastModifiedBy>Team UrbanSync</cp:lastModifiedBy>
  <cp:revision>1</cp:revision>
  <dcterms:created xsi:type="dcterms:W3CDTF">2026-10-24T11:11:48Z</dcterms:created>
  <dcterms:modified xsi:type="dcterms:W3CDTF">2026-10-24T11:11:48Z</dcterms:modified>
</cp:coreProperties>
</file>